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elvetica World" panose="020B0604020202020204" charset="-128"/>
      <p:regular r:id="rId12"/>
    </p:embeddedFont>
    <p:embeddedFont>
      <p:font typeface="Helvetica World Bold" panose="020B0604020202020204" charset="-128"/>
      <p:regular r:id="rId13"/>
    </p:embeddedFont>
    <p:embeddedFont>
      <p:font typeface="Algerian" panose="04020705040A02060702" pitchFamily="82" charset="0"/>
      <p:regular r:id="rId14"/>
    </p:embeddedFont>
    <p:embeddedFont>
      <p:font typeface="Mokoto Glitch 1" panose="020B0604020202020204" charset="0"/>
      <p:regular r:id="rId15"/>
    </p:embeddedFont>
    <p:embeddedFont>
      <p:font typeface="Norwester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2877800" y="4229584"/>
            <a:ext cx="5010800" cy="2176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29"/>
              </a:lnSpc>
            </a:pPr>
            <a:r>
              <a:rPr lang="en-US" sz="6949" dirty="0">
                <a:solidFill>
                  <a:srgbClr val="98C632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HACK</a:t>
            </a:r>
          </a:p>
          <a:p>
            <a:pPr algn="ctr">
              <a:lnSpc>
                <a:spcPts val="9729"/>
              </a:lnSpc>
              <a:spcBef>
                <a:spcPct val="0"/>
              </a:spcBef>
            </a:pPr>
            <a:r>
              <a:rPr lang="en-US" sz="6949" dirty="0">
                <a:solidFill>
                  <a:srgbClr val="98C632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MATRIX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94560" y="1143000"/>
            <a:ext cx="10058400" cy="13805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sz="4000" dirty="0">
                <a:solidFill>
                  <a:srgbClr val="98C632"/>
                </a:solidFill>
                <a:latin typeface="Algerian" panose="04020705040A02060702" pitchFamily="82" charset="0"/>
              </a:rPr>
              <a:t>Secure Automatic Network
Topology Creation Tool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19595" y="3617019"/>
            <a:ext cx="7096488" cy="3193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3000" dirty="0">
                <a:solidFill>
                  <a:srgbClr val="98C632"/>
                </a:solidFill>
                <a:latin typeface="Helvetica World"/>
              </a:rPr>
              <a:t>
</a:t>
            </a:r>
            <a:r>
              <a:rPr sz="3000" dirty="0" err="1">
                <a:solidFill>
                  <a:srgbClr val="98C632"/>
                </a:solidFill>
                <a:latin typeface="Helvetica World"/>
              </a:rPr>
              <a:t>Domain:Network</a:t>
            </a:r>
            <a:r>
              <a:rPr sz="3000" dirty="0">
                <a:solidFill>
                  <a:srgbClr val="98C632"/>
                </a:solidFill>
                <a:latin typeface="Helvetica World"/>
              </a:rPr>
              <a:t> Security
Team </a:t>
            </a:r>
            <a:r>
              <a:rPr lang="en-GB" sz="3000" dirty="0" err="1">
                <a:solidFill>
                  <a:srgbClr val="98C632"/>
                </a:solidFill>
                <a:latin typeface="Helvetica World"/>
              </a:rPr>
              <a:t>Name:karnikaperiyasamy</a:t>
            </a:r>
            <a:r>
              <a:rPr sz="3000" dirty="0">
                <a:solidFill>
                  <a:srgbClr val="98C632"/>
                </a:solidFill>
                <a:latin typeface="Helvetica World"/>
              </a:rPr>
              <a:t>
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933126" y="3242639"/>
            <a:ext cx="3336139" cy="2996647"/>
            <a:chOff x="0" y="0"/>
            <a:chExt cx="904882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04882" cy="812800"/>
            </a:xfrm>
            <a:custGeom>
              <a:avLst/>
              <a:gdLst/>
              <a:ahLst/>
              <a:cxnLst/>
              <a:rect l="l" t="t" r="r" b="b"/>
              <a:pathLst>
                <a:path w="904882" h="812800">
                  <a:moveTo>
                    <a:pt x="904882" y="60336"/>
                  </a:moveTo>
                  <a:lnTo>
                    <a:pt x="904882" y="752464"/>
                  </a:lnTo>
                  <a:cubicBezTo>
                    <a:pt x="904882" y="768466"/>
                    <a:pt x="898526" y="783813"/>
                    <a:pt x="887210" y="795128"/>
                  </a:cubicBezTo>
                  <a:cubicBezTo>
                    <a:pt x="875895" y="806443"/>
                    <a:pt x="860548" y="812800"/>
                    <a:pt x="844546" y="812800"/>
                  </a:cubicBezTo>
                  <a:lnTo>
                    <a:pt x="60336" y="812800"/>
                  </a:lnTo>
                  <a:cubicBezTo>
                    <a:pt x="44334" y="812800"/>
                    <a:pt x="28987" y="806443"/>
                    <a:pt x="17672" y="795128"/>
                  </a:cubicBezTo>
                  <a:cubicBezTo>
                    <a:pt x="6357" y="783813"/>
                    <a:pt x="0" y="768466"/>
                    <a:pt x="0" y="752464"/>
                  </a:cubicBezTo>
                  <a:lnTo>
                    <a:pt x="0" y="60336"/>
                  </a:lnTo>
                  <a:cubicBezTo>
                    <a:pt x="0" y="44334"/>
                    <a:pt x="6357" y="28987"/>
                    <a:pt x="17672" y="17672"/>
                  </a:cubicBezTo>
                  <a:cubicBezTo>
                    <a:pt x="28987" y="6357"/>
                    <a:pt x="44334" y="0"/>
                    <a:pt x="60336" y="0"/>
                  </a:cubicBezTo>
                  <a:lnTo>
                    <a:pt x="844546" y="0"/>
                  </a:lnTo>
                  <a:cubicBezTo>
                    <a:pt x="877869" y="0"/>
                    <a:pt x="904882" y="27013"/>
                    <a:pt x="904882" y="60336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29384" y="1325880"/>
            <a:ext cx="5943600" cy="667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GB" sz="4000" b="1" dirty="0">
                <a:solidFill>
                  <a:srgbClr val="98C632"/>
                </a:solidFill>
                <a:latin typeface="Helvetica World"/>
              </a:rPr>
              <a:t>THE PROBLEM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055614" y="3242639"/>
            <a:ext cx="3336139" cy="2996647"/>
            <a:chOff x="0" y="0"/>
            <a:chExt cx="904882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882" cy="812800"/>
            </a:xfrm>
            <a:custGeom>
              <a:avLst/>
              <a:gdLst/>
              <a:ahLst/>
              <a:cxnLst/>
              <a:rect l="l" t="t" r="r" b="b"/>
              <a:pathLst>
                <a:path w="904882" h="812800">
                  <a:moveTo>
                    <a:pt x="904882" y="60336"/>
                  </a:moveTo>
                  <a:lnTo>
                    <a:pt x="904882" y="752464"/>
                  </a:lnTo>
                  <a:cubicBezTo>
                    <a:pt x="904882" y="768466"/>
                    <a:pt x="898526" y="783813"/>
                    <a:pt x="887210" y="795128"/>
                  </a:cubicBezTo>
                  <a:cubicBezTo>
                    <a:pt x="875895" y="806443"/>
                    <a:pt x="860548" y="812800"/>
                    <a:pt x="844546" y="812800"/>
                  </a:cubicBezTo>
                  <a:lnTo>
                    <a:pt x="60336" y="812800"/>
                  </a:lnTo>
                  <a:cubicBezTo>
                    <a:pt x="44334" y="812800"/>
                    <a:pt x="28987" y="806443"/>
                    <a:pt x="17672" y="795128"/>
                  </a:cubicBezTo>
                  <a:cubicBezTo>
                    <a:pt x="6357" y="783813"/>
                    <a:pt x="0" y="768466"/>
                    <a:pt x="0" y="752464"/>
                  </a:cubicBezTo>
                  <a:lnTo>
                    <a:pt x="0" y="60336"/>
                  </a:lnTo>
                  <a:cubicBezTo>
                    <a:pt x="0" y="44334"/>
                    <a:pt x="6357" y="28987"/>
                    <a:pt x="17672" y="17672"/>
                  </a:cubicBezTo>
                  <a:cubicBezTo>
                    <a:pt x="28987" y="6357"/>
                    <a:pt x="44334" y="0"/>
                    <a:pt x="60336" y="0"/>
                  </a:cubicBezTo>
                  <a:lnTo>
                    <a:pt x="844546" y="0"/>
                  </a:lnTo>
                  <a:cubicBezTo>
                    <a:pt x="877869" y="0"/>
                    <a:pt x="904882" y="27013"/>
                    <a:pt x="904882" y="60336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197153" y="3242639"/>
            <a:ext cx="3336139" cy="2996647"/>
            <a:chOff x="0" y="0"/>
            <a:chExt cx="904882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4882" cy="812800"/>
            </a:xfrm>
            <a:custGeom>
              <a:avLst/>
              <a:gdLst/>
              <a:ahLst/>
              <a:cxnLst/>
              <a:rect l="l" t="t" r="r" b="b"/>
              <a:pathLst>
                <a:path w="904882" h="812800">
                  <a:moveTo>
                    <a:pt x="904882" y="60336"/>
                  </a:moveTo>
                  <a:lnTo>
                    <a:pt x="904882" y="752464"/>
                  </a:lnTo>
                  <a:cubicBezTo>
                    <a:pt x="904882" y="768466"/>
                    <a:pt x="898526" y="783813"/>
                    <a:pt x="887210" y="795128"/>
                  </a:cubicBezTo>
                  <a:cubicBezTo>
                    <a:pt x="875895" y="806443"/>
                    <a:pt x="860548" y="812800"/>
                    <a:pt x="844546" y="812800"/>
                  </a:cubicBezTo>
                  <a:lnTo>
                    <a:pt x="60336" y="812800"/>
                  </a:lnTo>
                  <a:cubicBezTo>
                    <a:pt x="44334" y="812800"/>
                    <a:pt x="28987" y="806443"/>
                    <a:pt x="17672" y="795128"/>
                  </a:cubicBezTo>
                  <a:cubicBezTo>
                    <a:pt x="6357" y="783813"/>
                    <a:pt x="0" y="768466"/>
                    <a:pt x="0" y="752464"/>
                  </a:cubicBezTo>
                  <a:lnTo>
                    <a:pt x="0" y="60336"/>
                  </a:lnTo>
                  <a:cubicBezTo>
                    <a:pt x="0" y="44334"/>
                    <a:pt x="6357" y="28987"/>
                    <a:pt x="17672" y="17672"/>
                  </a:cubicBezTo>
                  <a:cubicBezTo>
                    <a:pt x="28987" y="6357"/>
                    <a:pt x="44334" y="0"/>
                    <a:pt x="60336" y="0"/>
                  </a:cubicBezTo>
                  <a:lnTo>
                    <a:pt x="844546" y="0"/>
                  </a:lnTo>
                  <a:cubicBezTo>
                    <a:pt x="877869" y="0"/>
                    <a:pt x="904882" y="27013"/>
                    <a:pt x="904882" y="60336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080713" y="4455213"/>
            <a:ext cx="3154680" cy="1737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sz="1500">
                <a:solidFill>
                  <a:srgbClr val="98C632"/>
                </a:solidFill>
                <a:latin typeface="Helvetica World"/>
              </a:rPr>
              <a:t>Manual Mapping
Network diagrams are drawn and updated by hand — slow, tedious and error-prone.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50788" y="4455213"/>
            <a:ext cx="3154680" cy="1737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sz="1500">
                <a:solidFill>
                  <a:srgbClr val="98C632"/>
                </a:solidFill>
                <a:latin typeface="Helvetica World"/>
              </a:rPr>
              <a:t>No Live Visibility
Existing tools rarely show the real-time state of devices and connections.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44740" y="4455213"/>
            <a:ext cx="3154680" cy="1737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sz="1500">
                <a:solidFill>
                  <a:srgbClr val="98C632"/>
                </a:solidFill>
                <a:latin typeface="Helvetica World"/>
              </a:rPr>
              <a:t>Delayed Threat Detection
Security issues are often noticed only after they cause visible disruption.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33126" y="6766560"/>
            <a:ext cx="11430000" cy="1371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sz="2400">
                <a:solidFill>
                  <a:srgbClr val="98C632"/>
                </a:solidFill>
                <a:latin typeface="Helvetica World"/>
              </a:rPr>
              <a:t>Who is affected?
Network Administrators → Security Teams → Organizations &amp; Network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2167128" y="1234440"/>
            <a:ext cx="10515600" cy="667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sz="4000" b="1" dirty="0">
                <a:solidFill>
                  <a:srgbClr val="98C632"/>
                </a:solidFill>
                <a:latin typeface="Helvetica World"/>
              </a:rPr>
              <a:t>WHY THIS PROBLEM EXISTS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169229" y="2862465"/>
            <a:ext cx="2105086" cy="1890868"/>
            <a:chOff x="0" y="0"/>
            <a:chExt cx="904882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04882" cy="812800"/>
            </a:xfrm>
            <a:custGeom>
              <a:avLst/>
              <a:gdLst/>
              <a:ahLst/>
              <a:cxnLst/>
              <a:rect l="l" t="t" r="r" b="b"/>
              <a:pathLst>
                <a:path w="904882" h="812800">
                  <a:moveTo>
                    <a:pt x="904882" y="95621"/>
                  </a:moveTo>
                  <a:lnTo>
                    <a:pt x="904882" y="717179"/>
                  </a:lnTo>
                  <a:cubicBezTo>
                    <a:pt x="904882" y="769989"/>
                    <a:pt x="862072" y="812800"/>
                    <a:pt x="809262" y="812800"/>
                  </a:cubicBezTo>
                  <a:lnTo>
                    <a:pt x="95621" y="812800"/>
                  </a:lnTo>
                  <a:cubicBezTo>
                    <a:pt x="42811" y="812800"/>
                    <a:pt x="0" y="769989"/>
                    <a:pt x="0" y="717179"/>
                  </a:cubicBezTo>
                  <a:lnTo>
                    <a:pt x="0" y="95621"/>
                  </a:lnTo>
                  <a:cubicBezTo>
                    <a:pt x="0" y="42811"/>
                    <a:pt x="42811" y="0"/>
                    <a:pt x="95621" y="0"/>
                  </a:cubicBezTo>
                  <a:lnTo>
                    <a:pt x="809262" y="0"/>
                  </a:lnTo>
                  <a:cubicBezTo>
                    <a:pt x="862072" y="0"/>
                    <a:pt x="904882" y="42811"/>
                    <a:pt x="904882" y="95621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lIns="45263" tIns="45263" rIns="45263" bIns="45263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286000" y="3246120"/>
            <a:ext cx="1737360" cy="1234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sz="1500">
                <a:solidFill>
                  <a:srgbClr val="98C632"/>
                </a:solidFill>
                <a:latin typeface="Helvetica World"/>
              </a:rPr>
              <a:t>Fragmented tooling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795707" y="2862465"/>
            <a:ext cx="2105086" cy="1890868"/>
            <a:chOff x="0" y="0"/>
            <a:chExt cx="904882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04882" cy="812800"/>
            </a:xfrm>
            <a:custGeom>
              <a:avLst/>
              <a:gdLst/>
              <a:ahLst/>
              <a:cxnLst/>
              <a:rect l="l" t="t" r="r" b="b"/>
              <a:pathLst>
                <a:path w="904882" h="812800">
                  <a:moveTo>
                    <a:pt x="904882" y="95621"/>
                  </a:moveTo>
                  <a:lnTo>
                    <a:pt x="904882" y="717179"/>
                  </a:lnTo>
                  <a:cubicBezTo>
                    <a:pt x="904882" y="769989"/>
                    <a:pt x="862072" y="812800"/>
                    <a:pt x="809262" y="812800"/>
                  </a:cubicBezTo>
                  <a:lnTo>
                    <a:pt x="95621" y="812800"/>
                  </a:lnTo>
                  <a:cubicBezTo>
                    <a:pt x="42811" y="812800"/>
                    <a:pt x="0" y="769989"/>
                    <a:pt x="0" y="717179"/>
                  </a:cubicBezTo>
                  <a:lnTo>
                    <a:pt x="0" y="95621"/>
                  </a:lnTo>
                  <a:cubicBezTo>
                    <a:pt x="0" y="42811"/>
                    <a:pt x="42811" y="0"/>
                    <a:pt x="95621" y="0"/>
                  </a:cubicBezTo>
                  <a:lnTo>
                    <a:pt x="809262" y="0"/>
                  </a:lnTo>
                  <a:cubicBezTo>
                    <a:pt x="862072" y="0"/>
                    <a:pt x="904882" y="42811"/>
                    <a:pt x="904882" y="95621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lIns="45263" tIns="45263" rIns="45263" bIns="45263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892040" y="3246120"/>
            <a:ext cx="1737360" cy="1234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sz="1500">
                <a:solidFill>
                  <a:srgbClr val="98C632"/>
                </a:solidFill>
                <a:latin typeface="Helvetica World"/>
              </a:rPr>
              <a:t>Manual-first legacy workflows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422186" y="2862465"/>
            <a:ext cx="2105086" cy="1890868"/>
            <a:chOff x="0" y="0"/>
            <a:chExt cx="904882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4882" cy="812800"/>
            </a:xfrm>
            <a:custGeom>
              <a:avLst/>
              <a:gdLst/>
              <a:ahLst/>
              <a:cxnLst/>
              <a:rect l="l" t="t" r="r" b="b"/>
              <a:pathLst>
                <a:path w="904882" h="812800">
                  <a:moveTo>
                    <a:pt x="904882" y="95621"/>
                  </a:moveTo>
                  <a:lnTo>
                    <a:pt x="904882" y="717179"/>
                  </a:lnTo>
                  <a:cubicBezTo>
                    <a:pt x="904882" y="769989"/>
                    <a:pt x="862072" y="812800"/>
                    <a:pt x="809262" y="812800"/>
                  </a:cubicBezTo>
                  <a:lnTo>
                    <a:pt x="95621" y="812800"/>
                  </a:lnTo>
                  <a:cubicBezTo>
                    <a:pt x="42811" y="812800"/>
                    <a:pt x="0" y="769989"/>
                    <a:pt x="0" y="717179"/>
                  </a:cubicBezTo>
                  <a:lnTo>
                    <a:pt x="0" y="95621"/>
                  </a:lnTo>
                  <a:cubicBezTo>
                    <a:pt x="0" y="42811"/>
                    <a:pt x="42811" y="0"/>
                    <a:pt x="95621" y="0"/>
                  </a:cubicBezTo>
                  <a:lnTo>
                    <a:pt x="809262" y="0"/>
                  </a:lnTo>
                  <a:cubicBezTo>
                    <a:pt x="862072" y="0"/>
                    <a:pt x="904882" y="42811"/>
                    <a:pt x="904882" y="95621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lIns="45263" tIns="45263" rIns="45263" bIns="45263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498080" y="3246120"/>
            <a:ext cx="1737360" cy="1234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sz="1500">
                <a:solidFill>
                  <a:srgbClr val="98C632"/>
                </a:solidFill>
                <a:latin typeface="Helvetica World"/>
              </a:rPr>
              <a:t>No real-time feedback loop</a:t>
            </a:r>
          </a:p>
        </p:txBody>
      </p:sp>
      <p:sp>
        <p:nvSpPr>
          <p:cNvPr id="16" name="TextBox 16"/>
          <p:cNvSpPr txBox="1"/>
          <p:nvPr/>
        </p:nvSpPr>
        <p:spPr>
          <a:xfrm rot="5400000">
            <a:off x="2330810" y="4965742"/>
            <a:ext cx="661569" cy="1017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81"/>
              </a:lnSpc>
              <a:spcBef>
                <a:spcPct val="0"/>
              </a:spcBef>
            </a:pPr>
            <a:r>
              <a:rPr lang="en-US" sz="5986">
                <a:solidFill>
                  <a:srgbClr val="98C632"/>
                </a:solidFill>
                <a:latin typeface="Norwester"/>
                <a:ea typeface="Norwester"/>
                <a:cs typeface="Norwester"/>
                <a:sym typeface="Norwester"/>
              </a:rPr>
              <a:t>-&gt;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34809" y="5995569"/>
            <a:ext cx="2703801" cy="455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sz="2672">
                <a:solidFill>
                  <a:srgbClr val="98C632"/>
                </a:solidFill>
                <a:latin typeface="Helvetica World"/>
              </a:rPr>
              <a:t>CORE PROBLEM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64438" y="5995569"/>
            <a:ext cx="3655977" cy="455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sz="2672">
                <a:solidFill>
                  <a:srgbClr val="98C632"/>
                </a:solidFill>
                <a:latin typeface="Helvetica World"/>
              </a:rPr>
              <a:t>USER CONSEQUENCE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80481" y="5995569"/>
            <a:ext cx="2926080" cy="455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sz="2672">
                <a:solidFill>
                  <a:srgbClr val="98C632"/>
                </a:solidFill>
                <a:latin typeface="Helvetica World"/>
              </a:rPr>
              <a:t>REAL IMPACT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47882" y="5814601"/>
            <a:ext cx="507006" cy="77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3"/>
              </a:lnSpc>
              <a:spcBef>
                <a:spcPct val="0"/>
              </a:spcBef>
            </a:pPr>
            <a:r>
              <a:rPr lang="en-US" sz="4588">
                <a:solidFill>
                  <a:srgbClr val="98C632"/>
                </a:solidFill>
                <a:latin typeface="Norwester"/>
                <a:ea typeface="Norwester"/>
                <a:cs typeface="Norwester"/>
                <a:sym typeface="Norwester"/>
              </a:rPr>
              <a:t>-&gt;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44875" y="5814601"/>
            <a:ext cx="507006" cy="77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3"/>
              </a:lnSpc>
              <a:spcBef>
                <a:spcPct val="0"/>
              </a:spcBef>
            </a:pPr>
            <a:r>
              <a:rPr lang="en-US" sz="4588">
                <a:solidFill>
                  <a:srgbClr val="98C632"/>
                </a:solidFill>
                <a:latin typeface="Norwester"/>
                <a:ea typeface="Norwester"/>
                <a:cs typeface="Norwester"/>
                <a:sym typeface="Norwester"/>
              </a:rPr>
              <a:t>-&gt;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34809" y="7318319"/>
            <a:ext cx="9589835" cy="1389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2"/>
              </a:lnSpc>
            </a:pPr>
            <a:r>
              <a:rPr sz="2672">
                <a:solidFill>
                  <a:srgbClr val="98C632"/>
                </a:solidFill>
                <a:latin typeface="Helvetica World"/>
              </a:rPr>
              <a:t>Current Approach:
Discovery + monitoring + security are handled through disconnected tools → manual documentation → delayed detection / higher risk → poor network visibility and slower response.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2395728" y="1188720"/>
            <a:ext cx="7772400" cy="667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sz="4000" b="1" dirty="0">
                <a:solidFill>
                  <a:srgbClr val="98C632"/>
                </a:solidFill>
                <a:latin typeface="Helvetica World"/>
              </a:rPr>
              <a:t>OUR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97174" y="2286000"/>
            <a:ext cx="13304520" cy="1051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2000" dirty="0">
                <a:solidFill>
                  <a:srgbClr val="98C632"/>
                </a:solidFill>
                <a:latin typeface="Helvetica World"/>
              </a:rPr>
              <a:t>INTRODUCING SECURE AUTOMATIC NETWORK TOPOLOGY CREATION TOOL
</a:t>
            </a:r>
            <a:r>
              <a:rPr lang="en-GB" sz="2000" dirty="0">
                <a:solidFill>
                  <a:srgbClr val="98C632"/>
                </a:solidFill>
                <a:latin typeface="Helvetica World"/>
              </a:rPr>
              <a:t>Secure automatic network topology creation </a:t>
            </a:r>
            <a:r>
              <a:rPr sz="2000" dirty="0">
                <a:solidFill>
                  <a:srgbClr val="98C632"/>
                </a:solidFill>
                <a:latin typeface="Helvetica World"/>
              </a:rPr>
              <a:t> enables network administrators to automatically discover network devices, generate an interactive topology map, monitor network status, and analyze security risk from one centralized dashboard.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97174" y="4206240"/>
            <a:ext cx="4389120" cy="3648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sz="1600" dirty="0">
                <a:solidFill>
                  <a:srgbClr val="98C632"/>
                </a:solidFill>
                <a:latin typeface="Helvetica World"/>
              </a:rPr>
              <a:t>USER
↓
NETWORK INPUT
↓
</a:t>
            </a:r>
            <a:r>
              <a:rPr lang="en-GB" sz="1600" dirty="0">
                <a:solidFill>
                  <a:srgbClr val="98C632"/>
                </a:solidFill>
                <a:latin typeface="Helvetica World"/>
              </a:rPr>
              <a:t>Secure automatic network topology creation </a:t>
            </a:r>
            <a:r>
              <a:rPr sz="1600" dirty="0">
                <a:solidFill>
                  <a:srgbClr val="98C632"/>
                </a:solidFill>
                <a:latin typeface="Helvetica World"/>
              </a:rPr>
              <a:t>
↓
DISCOVERY + TOPOLOGY + MONITORING + SECURITY ANALYSIS
↓
ACTIONABLE NETWORK INSIGHTS
↓
FASTER, MORE RELIABLE NETWORK MANAGEMENT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2242" y="4206240"/>
            <a:ext cx="6400800" cy="4206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2000">
                <a:solidFill>
                  <a:srgbClr val="98C632"/>
                </a:solidFill>
                <a:latin typeface="Helvetica World"/>
              </a:rPr>
              <a:t>Core capabilities
Capability Value
01 Automatic Discovery — Detect active devices without manual input.
02 Interactive Topology — Visualize how devices connect in a live map.
03 Security + Monitoring — Continuously track network health and flag risks.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97174" y="8549640"/>
            <a:ext cx="12344400" cy="914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58"/>
              </a:lnSpc>
              <a:spcBef>
                <a:spcPct val="0"/>
              </a:spcBef>
            </a:pPr>
            <a:r>
              <a:rPr sz="2541">
                <a:solidFill>
                  <a:srgbClr val="98C632"/>
                </a:solidFill>
                <a:latin typeface="Helvetica World"/>
              </a:rPr>
              <a:t>Built for network administrators who need a faster, more reliable way to see — and secure — everything on their network.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2276856" y="1234440"/>
            <a:ext cx="13716000" cy="667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sz="4000" b="1" dirty="0">
                <a:solidFill>
                  <a:srgbClr val="98C632"/>
                </a:solidFill>
                <a:latin typeface="Helvetica World"/>
              </a:rPr>
              <a:t>PROTOTYPE / PRODUCT EXPERIENCE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08760" y="2606040"/>
            <a:ext cx="4206240" cy="365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sz="2200">
                <a:solidFill>
                  <a:srgbClr val="98C632"/>
                </a:solidFill>
                <a:latin typeface="Helvetica World"/>
              </a:rPr>
              <a:t>Network Dashboard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08760" y="5074920"/>
            <a:ext cx="4206240" cy="365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sz="2200">
                <a:solidFill>
                  <a:srgbClr val="98C632"/>
                </a:solidFill>
                <a:latin typeface="Helvetica World"/>
              </a:rPr>
              <a:t>Device Management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35650" y="2606040"/>
            <a:ext cx="6217920" cy="3930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sz="1600" dirty="0">
                <a:solidFill>
                  <a:srgbClr val="98C632"/>
                </a:solidFill>
                <a:latin typeface="Helvetica World"/>
              </a:rPr>
              <a:t>User journey
01 — INPUT
Network devices and network environment.
↓
02 — PROCESS
</a:t>
            </a:r>
            <a:r>
              <a:rPr lang="en-GB" sz="1600" dirty="0">
                <a:solidFill>
                  <a:srgbClr val="98C632"/>
                </a:solidFill>
                <a:latin typeface="Helvetica World"/>
              </a:rPr>
              <a:t>Secure automatic network topology creation </a:t>
            </a:r>
            <a:r>
              <a:rPr sz="1600" dirty="0">
                <a:solidFill>
                  <a:srgbClr val="98C632"/>
                </a:solidFill>
                <a:latin typeface="Helvetica World"/>
              </a:rPr>
              <a:t> discovers devices, builds topology and monitors status/security.
↓
03 — OUTPUT
Interactive topology, device status, alerts and reports.
↓
04 — ACTION
Administrator investigates issues and takes informed network-security action.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11983" y="7818120"/>
            <a:ext cx="16276320" cy="822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sz="2000">
                <a:solidFill>
                  <a:srgbClr val="98C632"/>
                </a:solidFill>
                <a:latin typeface="Helvetica World"/>
              </a:rPr>
              <a:t>Prototype experience: Input → Discovery &amp; Processing → Topology / Monitoring / Security Outcome</a:t>
            </a:r>
          </a:p>
        </p:txBody>
      </p:sp>
      <p:pic>
        <p:nvPicPr>
          <p:cNvPr id="8" name="Picture 7" descr="santms_proto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983" y="3063240"/>
            <a:ext cx="4127247" cy="173736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511983" y="5440680"/>
            <a:ext cx="4210050" cy="1188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sz="1500">
                <a:solidFill>
                  <a:srgbClr val="98C632"/>
                </a:solidFill>
                <a:latin typeface="Helvetica World"/>
              </a:rPr>
              <a:t>Every discovered device is listed with live status, type, and IP. Admins can search, filter, and drill into any device for its connection history and risk flags.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2395728" y="1188720"/>
            <a:ext cx="10515600" cy="667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sz="4000" b="1" dirty="0">
                <a:solidFill>
                  <a:srgbClr val="98C632"/>
                </a:solidFill>
                <a:latin typeface="Helvetica World"/>
              </a:rPr>
              <a:t>WHAT MAKES US DIFFERENT?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95728" y="2286000"/>
            <a:ext cx="5486400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sz="2400">
                <a:solidFill>
                  <a:srgbClr val="98C632"/>
                </a:solidFill>
                <a:latin typeface="Helvetica World"/>
              </a:rPr>
              <a:t>WHY THIS APPROACH?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92463" y="8138160"/>
            <a:ext cx="9875446" cy="1277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sz="2427" dirty="0">
                <a:solidFill>
                  <a:srgbClr val="98C632"/>
                </a:solidFill>
                <a:latin typeface="Helvetica World"/>
              </a:rPr>
              <a:t>S</a:t>
            </a:r>
            <a:r>
              <a:rPr lang="en-GB" sz="2427" dirty="0" err="1">
                <a:solidFill>
                  <a:srgbClr val="98C632"/>
                </a:solidFill>
                <a:latin typeface="Helvetica World"/>
              </a:rPr>
              <a:t>ecure</a:t>
            </a:r>
            <a:r>
              <a:rPr lang="en-GB" sz="2427" dirty="0">
                <a:solidFill>
                  <a:srgbClr val="98C632"/>
                </a:solidFill>
                <a:latin typeface="Helvetica World"/>
              </a:rPr>
              <a:t> automatic network topology creation tool</a:t>
            </a:r>
            <a:r>
              <a:rPr sz="2427" dirty="0">
                <a:solidFill>
                  <a:srgbClr val="98C632"/>
                </a:solidFill>
                <a:latin typeface="Helvetica World"/>
              </a:rPr>
              <a:t> is differentiated by combining discovery, topology, monitoring, security analysis, access control and reporting in one system.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95728" y="2880360"/>
            <a:ext cx="5120640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sz="2000">
                <a:solidFill>
                  <a:srgbClr val="98C632"/>
                </a:solidFill>
                <a:latin typeface="Helvetica World"/>
              </a:rPr>
              <a:t>TRADITIONAL TOOLS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03920" y="2880360"/>
            <a:ext cx="5120640" cy="333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GB" sz="2000" dirty="0">
                <a:solidFill>
                  <a:srgbClr val="98C632"/>
                </a:solidFill>
                <a:latin typeface="Helvetica World"/>
              </a:rPr>
              <a:t>PROPOSED SYSTEM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95728" y="3429000"/>
            <a:ext cx="5394960" cy="4572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sz="1700">
                <a:solidFill>
                  <a:srgbClr val="98C632"/>
                </a:solidFill>
                <a:latin typeface="Helvetica World"/>
              </a:rPr>
              <a:t>Visibility
Static, manually drawn diagrams
Security
Periodic, manual audits
Documentation
Hand-maintained, quickly outdated
Access Control
Shared logins, no accountability
Reporting
Scattered across disconnected tools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03920" y="3429000"/>
            <a:ext cx="5394960" cy="4572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sz="1700">
                <a:solidFill>
                  <a:srgbClr val="98C632"/>
                </a:solidFill>
                <a:latin typeface="Helvetica World"/>
              </a:rPr>
              <a:t> 
Live, auto-generated interactive topology
Continuous, automated risk analysis
Always in sync with the real network
Role-based access + full audit trail
One-click, centralized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0958075" y="3063240"/>
            <a:ext cx="6301225" cy="6301225"/>
          </a:xfrm>
          <a:custGeom>
            <a:avLst/>
            <a:gdLst/>
            <a:ahLst/>
            <a:cxnLst/>
            <a:rect l="l" t="t" r="r" b="b"/>
            <a:pathLst>
              <a:path w="6301225" h="6301225">
                <a:moveTo>
                  <a:pt x="0" y="0"/>
                </a:moveTo>
                <a:lnTo>
                  <a:pt x="6301225" y="0"/>
                </a:lnTo>
                <a:lnTo>
                  <a:pt x="6301225" y="6301226"/>
                </a:lnTo>
                <a:lnTo>
                  <a:pt x="0" y="630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459736" y="1188720"/>
            <a:ext cx="8686800" cy="667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sz="4000" b="1" dirty="0">
                <a:solidFill>
                  <a:srgbClr val="98C632"/>
                </a:solidFill>
                <a:latin typeface="Helvetica World"/>
              </a:rPr>
              <a:t>TECHNICAL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59736" y="3090189"/>
            <a:ext cx="6492240" cy="34881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sz="3200" b="1" dirty="0">
                <a:solidFill>
                  <a:srgbClr val="98C632"/>
                </a:solidFill>
                <a:latin typeface="Helvetica World"/>
              </a:rPr>
              <a:t>Tech stack</a:t>
            </a:r>
            <a:r>
              <a:rPr sz="2400" dirty="0">
                <a:solidFill>
                  <a:srgbClr val="98C632"/>
                </a:solidFill>
                <a:latin typeface="Helvetica World"/>
              </a:rPr>
              <a:t>:
</a:t>
            </a:r>
            <a:r>
              <a:rPr sz="3200" dirty="0">
                <a:solidFill>
                  <a:srgbClr val="98C632"/>
                </a:solidFill>
                <a:latin typeface="Helvetica World"/>
              </a:rPr>
              <a:t>Frontend</a:t>
            </a:r>
            <a:r>
              <a:rPr lang="en-GB" sz="3200" dirty="0">
                <a:solidFill>
                  <a:srgbClr val="98C632"/>
                </a:solidFill>
                <a:latin typeface="Helvetica World"/>
              </a:rPr>
              <a:t>:</a:t>
            </a:r>
            <a:r>
              <a:rPr sz="3200" dirty="0">
                <a:solidFill>
                  <a:srgbClr val="98C632"/>
                </a:solidFill>
                <a:latin typeface="Helvetica World"/>
              </a:rPr>
              <a:t>HTML / CSS / JavaScript
Backend</a:t>
            </a:r>
            <a:r>
              <a:rPr lang="en-GB" sz="3200" dirty="0">
                <a:solidFill>
                  <a:srgbClr val="98C632"/>
                </a:solidFill>
                <a:latin typeface="Helvetica World"/>
              </a:rPr>
              <a:t>:</a:t>
            </a:r>
            <a:r>
              <a:rPr sz="3200" dirty="0">
                <a:solidFill>
                  <a:srgbClr val="98C632"/>
                </a:solidFill>
                <a:latin typeface="Helvetica World"/>
              </a:rPr>
              <a:t>Spring Boot </a:t>
            </a:r>
            <a:r>
              <a:rPr lang="en-GB" sz="3200" dirty="0">
                <a:solidFill>
                  <a:srgbClr val="98C632"/>
                </a:solidFill>
                <a:latin typeface="Helvetica World"/>
              </a:rPr>
              <a:t>,Java</a:t>
            </a:r>
            <a:r>
              <a:rPr sz="3200" dirty="0">
                <a:solidFill>
                  <a:srgbClr val="98C632"/>
                </a:solidFill>
                <a:latin typeface="Helvetica World"/>
              </a:rPr>
              <a:t>
Database</a:t>
            </a:r>
            <a:r>
              <a:rPr lang="en-GB" sz="3200" dirty="0">
                <a:solidFill>
                  <a:srgbClr val="98C632"/>
                </a:solidFill>
                <a:latin typeface="Helvetica World"/>
              </a:rPr>
              <a:t>:</a:t>
            </a:r>
            <a:r>
              <a:rPr sz="3200" dirty="0">
                <a:solidFill>
                  <a:srgbClr val="98C632"/>
                </a:solidFill>
                <a:latin typeface="Helvetica World"/>
              </a:rPr>
              <a:t>PostgreSQL
APIs</a:t>
            </a:r>
            <a:r>
              <a:rPr lang="en-GB" sz="3200" dirty="0">
                <a:solidFill>
                  <a:srgbClr val="98C632"/>
                </a:solidFill>
                <a:latin typeface="Helvetica World"/>
              </a:rPr>
              <a:t>:</a:t>
            </a:r>
            <a:r>
              <a:rPr sz="3200" dirty="0">
                <a:solidFill>
                  <a:srgbClr val="98C632"/>
                </a:solidFill>
                <a:latin typeface="Helvetica World"/>
              </a:rPr>
              <a:t>REST APIs
Security</a:t>
            </a:r>
            <a:r>
              <a:rPr lang="en-GB" sz="3200" dirty="0">
                <a:solidFill>
                  <a:srgbClr val="98C632"/>
                </a:solidFill>
                <a:latin typeface="Helvetica World"/>
              </a:rPr>
              <a:t>:</a:t>
            </a:r>
            <a:r>
              <a:rPr sz="3200" dirty="0">
                <a:solidFill>
                  <a:srgbClr val="98C632"/>
                </a:solidFill>
                <a:latin typeface="Helvetica World"/>
              </a:rPr>
              <a:t>Role-Based Access Control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31295" y="7910970"/>
            <a:ext cx="7498080" cy="1097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3000" dirty="0">
                <a:solidFill>
                  <a:srgbClr val="98C632"/>
                </a:solidFill>
                <a:latin typeface="Helvetica World"/>
              </a:rPr>
              <a:t>Only technologies used in the implementation are shown.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54512" y="1234440"/>
            <a:ext cx="6300216" cy="1600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sz="1600">
                <a:solidFill>
                  <a:srgbClr val="98C632"/>
                </a:solidFill>
                <a:latin typeface="Helvetica World"/>
              </a:rPr>
              <a:t>Workflow
Network → Discovery → Device Identification → Topology Generation → Monitoring → Security Analysis →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2240280" y="1188720"/>
            <a:ext cx="8686800" cy="667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sz="4000" b="1" dirty="0">
                <a:solidFill>
                  <a:srgbClr val="98C632"/>
                </a:solidFill>
                <a:latin typeface="Helvetica World"/>
              </a:rPr>
              <a:t>FEASIBILITY + IMPACT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70048" y="2286000"/>
            <a:ext cx="3200400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sz="2200" b="1">
                <a:solidFill>
                  <a:srgbClr val="98C632"/>
                </a:solidFill>
                <a:latin typeface="Helvetica World Bold"/>
              </a:rPr>
              <a:t>FEASIBILITY</a:t>
            </a:r>
          </a:p>
        </p:txBody>
      </p:sp>
      <p:sp>
        <p:nvSpPr>
          <p:cNvPr id="5" name="AutoShape 5"/>
          <p:cNvSpPr/>
          <p:nvPr/>
        </p:nvSpPr>
        <p:spPr>
          <a:xfrm flipH="1">
            <a:off x="7153270" y="2377440"/>
            <a:ext cx="0" cy="6217920"/>
          </a:xfrm>
          <a:prstGeom prst="line">
            <a:avLst/>
          </a:prstGeom>
          <a:ln w="38100" cap="rnd">
            <a:solidFill>
              <a:srgbClr val="98C6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8037576" y="2286000"/>
            <a:ext cx="2743200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sz="2200" b="1">
                <a:solidFill>
                  <a:srgbClr val="98C632"/>
                </a:solidFill>
                <a:latin typeface="Helvetica World Bold"/>
              </a:rPr>
              <a:t>IMPACT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8952" y="2926080"/>
            <a:ext cx="6035040" cy="640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sz="1700">
                <a:solidFill>
                  <a:srgbClr val="98C632"/>
                </a:solidFill>
                <a:latin typeface="Helvetica World"/>
              </a:rPr>
              <a:t>Technical
Spring Boot, PostgreSQL and REST are mature, documented technologies.
Implementation approach
Web dashboard + REST backend + relational data layer.
Operational
Runs on standard hardware with no specialized equipment or licenses required.
Hackathon MVP
Functional UI, network discovery, topology generation, monitoring/security features and reporting workflow.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35582" y="2926080"/>
            <a:ext cx="5541264" cy="640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sz="1700">
                <a:solidFill>
                  <a:srgbClr val="98C632"/>
                </a:solidFill>
                <a:latin typeface="Helvetica World"/>
              </a:rPr>
              <a:t>Who benefits?
Network administrators and security teams.
What improves?
Reduced manual work, faster network mapping, improved security visibility, real-time monitoring and easy report generation.
Why does it matter?
Administrators can see and secure the network faster with less manual effort.
Prototype → MVP → Pilot → Scale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339956" y="5143500"/>
            <a:ext cx="902852" cy="0"/>
          </a:xfrm>
          <a:prstGeom prst="line">
            <a:avLst/>
          </a:prstGeom>
          <a:ln w="57150" cap="rnd">
            <a:solidFill>
              <a:srgbClr val="98C632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6800732" y="3505200"/>
            <a:ext cx="3676171" cy="2834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3000">
                <a:solidFill>
                  <a:srgbClr val="98C632"/>
                </a:solidFill>
                <a:latin typeface="Helvetica World"/>
              </a:rPr>
              <a:t>NEXT
MVP
User testing
Reliability
Security
Refinement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00754" y="3505200"/>
            <a:ext cx="3676171" cy="2834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3000">
                <a:solidFill>
                  <a:srgbClr val="98C632"/>
                </a:solidFill>
                <a:latin typeface="Helvetica World"/>
              </a:rPr>
              <a:t>LATER
Deployment
Real-world pilot
Analytics
Integrations</a:t>
            </a:r>
          </a:p>
        </p:txBody>
      </p:sp>
      <p:sp>
        <p:nvSpPr>
          <p:cNvPr id="6" name="AutoShape 6"/>
          <p:cNvSpPr/>
          <p:nvPr/>
        </p:nvSpPr>
        <p:spPr>
          <a:xfrm>
            <a:off x="9574051" y="5114925"/>
            <a:ext cx="902852" cy="0"/>
          </a:xfrm>
          <a:prstGeom prst="line">
            <a:avLst/>
          </a:prstGeom>
          <a:ln w="57150" cap="rnd">
            <a:solidFill>
              <a:srgbClr val="98C632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4025732" y="4800159"/>
            <a:ext cx="902385" cy="29031"/>
          </a:xfrm>
          <a:prstGeom prst="line">
            <a:avLst/>
          </a:prstGeom>
          <a:ln w="57150" cap="rnd">
            <a:solidFill>
              <a:srgbClr val="98C632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grpSp>
        <p:nvGrpSpPr>
          <p:cNvPr id="8" name="Group 8"/>
          <p:cNvGrpSpPr/>
          <p:nvPr/>
        </p:nvGrpSpPr>
        <p:grpSpPr>
          <a:xfrm>
            <a:off x="14800775" y="3314700"/>
            <a:ext cx="3086100" cy="30861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80B0E">
                <a:alpha val="56863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496312" y="1188720"/>
            <a:ext cx="10058400" cy="667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sz="4000" b="1" dirty="0">
                <a:solidFill>
                  <a:srgbClr val="98C632"/>
                </a:solidFill>
                <a:latin typeface="Helvetica World"/>
              </a:rPr>
              <a:t>IMPLEMENTATION ROADMAP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6914" y="3505200"/>
            <a:ext cx="3676171" cy="2834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3000">
                <a:solidFill>
                  <a:srgbClr val="98C632"/>
                </a:solidFill>
                <a:latin typeface="Helvetica World"/>
              </a:rPr>
              <a:t>NOW
Hackathon Prototype
Core workflow
Functional UI
Initial validation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96312" y="2286000"/>
            <a:ext cx="5486400" cy="333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2000" dirty="0">
                <a:solidFill>
                  <a:srgbClr val="98C632"/>
                </a:solidFill>
                <a:latin typeface="Helvetica World"/>
              </a:rPr>
              <a:t>WHAT </a:t>
            </a:r>
            <a:r>
              <a:rPr lang="en-GB" sz="2000" dirty="0">
                <a:solidFill>
                  <a:srgbClr val="98C632"/>
                </a:solidFill>
                <a:latin typeface="Helvetica World"/>
              </a:rPr>
              <a:t> </a:t>
            </a:r>
            <a:r>
              <a:rPr sz="2000" dirty="0">
                <a:solidFill>
                  <a:srgbClr val="98C632"/>
                </a:solidFill>
                <a:latin typeface="Helvetica World"/>
              </a:rPr>
              <a:t>HAPPENS </a:t>
            </a:r>
            <a:r>
              <a:rPr lang="en-GB" sz="2000" dirty="0">
                <a:solidFill>
                  <a:srgbClr val="98C632"/>
                </a:solidFill>
                <a:latin typeface="Helvetica World"/>
              </a:rPr>
              <a:t> </a:t>
            </a:r>
            <a:r>
              <a:rPr sz="2000" dirty="0">
                <a:solidFill>
                  <a:srgbClr val="98C632"/>
                </a:solidFill>
                <a:latin typeface="Helvetica World"/>
              </a:rPr>
              <a:t>NEXT?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38900" y="3505200"/>
            <a:ext cx="3676171" cy="2834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3000" dirty="0">
                <a:solidFill>
                  <a:srgbClr val="98C632"/>
                </a:solidFill>
                <a:latin typeface="Helvetica World"/>
              </a:rPr>
              <a:t>SCALE
Expansion
More users
More domains
More locations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5024" y="7040880"/>
            <a:ext cx="7589520" cy="2103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2000">
                <a:solidFill>
                  <a:srgbClr val="98C632"/>
                </a:solidFill>
                <a:latin typeface="Helvetica World"/>
              </a:rPr>
              <a:t>Critical point
Already built
Core discovery, topology, dashboard, monitoring/security workflow and access/reporting foundation.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01200" y="7040880"/>
            <a:ext cx="7590790" cy="2103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sz="2000">
                <a:solidFill>
                  <a:srgbClr val="98C632"/>
                </a:solidFill>
                <a:latin typeface="Helvetica World"/>
              </a:rPr>
              <a:t>Planned
Cloud deployment, AI-based anomaly detection, mobile app and multi-site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dirty="0"/>
          </a:p>
        </p:txBody>
      </p:sp>
      <p:sp>
        <p:nvSpPr>
          <p:cNvPr id="4" name="TextBox 4"/>
          <p:cNvSpPr txBox="1"/>
          <p:nvPr/>
        </p:nvSpPr>
        <p:spPr>
          <a:xfrm>
            <a:off x="2496312" y="1188720"/>
            <a:ext cx="8229600" cy="667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sz="4000" b="1" dirty="0">
                <a:solidFill>
                  <a:srgbClr val="98C632"/>
                </a:solidFill>
                <a:latin typeface="Helvetica World"/>
              </a:rPr>
              <a:t>TEAM + EXECUTION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26527" y="2640294"/>
            <a:ext cx="5943600" cy="766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sz="2200" dirty="0">
                <a:solidFill>
                  <a:srgbClr val="98C632"/>
                </a:solidFill>
                <a:latin typeface="Helvetica World"/>
              </a:rPr>
              <a:t>S</a:t>
            </a:r>
            <a:r>
              <a:rPr lang="en-GB" sz="2200" dirty="0">
                <a:solidFill>
                  <a:srgbClr val="98C632"/>
                </a:solidFill>
                <a:latin typeface="Helvetica World"/>
              </a:rPr>
              <a:t>ECURE AUTOMATIC NETWORK TOPOLOGY CREATION TOOL IMPLEMENTATION</a:t>
            </a:r>
            <a:endParaRPr sz="2200" dirty="0">
              <a:solidFill>
                <a:srgbClr val="98C632"/>
              </a:solidFill>
              <a:latin typeface="Helvetica Wor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81200" y="4190998"/>
            <a:ext cx="11062972" cy="4167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GB" sz="2400" dirty="0">
                <a:solidFill>
                  <a:srgbClr val="98C632"/>
                </a:solidFill>
                <a:latin typeface="Helvetica World"/>
              </a:rPr>
              <a:t>This project was designed, built, and deployed independently — covering every layer from database to UI.
Skills applied
Full-stack development — Spring Boot backend, vanilla JS frontend
Database design — PostgreSQL schema, security &amp; RBAC
Network logic — topology generation, monitoring &amp; risk analysis </a:t>
            </a:r>
          </a:p>
          <a:p>
            <a:pPr>
              <a:lnSpc>
                <a:spcPts val="2520"/>
              </a:lnSpc>
            </a:pPr>
            <a:r>
              <a:rPr sz="2400" dirty="0">
                <a:solidFill>
                  <a:srgbClr val="98C632"/>
                </a:solidFill>
                <a:latin typeface="Helvetica World"/>
              </a:rPr>
              <a:t>
</a:t>
            </a:r>
            <a:r>
              <a:rPr lang="en-GB" sz="2400" dirty="0">
                <a:solidFill>
                  <a:srgbClr val="98C632"/>
                </a:solidFill>
                <a:latin typeface="Helvetica World"/>
              </a:rPr>
              <a:t>Why I can execute this solution
As the sole developer, I handled full-stack development, PostgreSQL database design, security/risk logic, role-based access, dashboard UX, testing and deployment for Secure automatic network topology creation.</a:t>
            </a:r>
          </a:p>
          <a:p>
            <a:pPr>
              <a:lnSpc>
                <a:spcPts val="2520"/>
              </a:lnSpc>
            </a:pPr>
            <a:endParaRPr sz="2400" dirty="0">
              <a:solidFill>
                <a:srgbClr val="98C632"/>
              </a:solidFill>
              <a:latin typeface="Helvetica Wor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947</Words>
  <Application>Microsoft Office PowerPoint</Application>
  <PresentationFormat>Custom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Helvetica World</vt:lpstr>
      <vt:lpstr>Calibri</vt:lpstr>
      <vt:lpstr>Helvetica World Bold</vt:lpstr>
      <vt:lpstr>Algerian</vt:lpstr>
      <vt:lpstr>Arial</vt:lpstr>
      <vt:lpstr>Norwester</vt:lpstr>
      <vt:lpstr>Mokoto Glitch 1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MATRIX</dc:title>
  <dc:creator>Karnika Periyasamy</dc:creator>
  <cp:lastModifiedBy>Karnika Periyasamy</cp:lastModifiedBy>
  <cp:revision>3</cp:revision>
  <dcterms:created xsi:type="dcterms:W3CDTF">2006-08-16T00:00:00Z</dcterms:created>
  <dcterms:modified xsi:type="dcterms:W3CDTF">2026-08-09T21:35:31Z</dcterms:modified>
  <dc:identifier>DAHRvWOOywY</dc:identifier>
</cp:coreProperties>
</file>